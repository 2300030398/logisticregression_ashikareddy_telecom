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033"/>
                </a:solidFill>
                <a:latin typeface="+mn-lt"/>
              </a:rPr>
              <a:t>Customers by churn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35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62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5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6A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 (0)</c:v>
                  </c:pt>
                  <c:pt idx="1">
                    <c:v>Churn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62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033"/>
                </a:solidFill>
                <a:latin typeface="+mn-lt"/>
              </a:rPr>
              <a:t>Metrics (%) by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3582"/>
            </a:solidFill>
            <a:ln w="38100" cap="flat">
              <a:solidFill>
                <a:srgbClr val="1E35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3582"/>
              </a:solidFill>
              <a:ln w="9525" cap="flat">
                <a:solidFill>
                  <a:srgbClr val="1E35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0.6</c:v>
                  </c:pt>
                  <c:pt idx="5">
                    <c:v>0.7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46.7</c:v>
                </c:pt>
                <c:pt idx="1">
                  <c:v>51.9</c:v>
                </c:pt>
                <c:pt idx="2">
                  <c:v>56.7</c:v>
                </c:pt>
                <c:pt idx="3">
                  <c:v>65.8</c:v>
                </c:pt>
                <c:pt idx="4">
                  <c:v>71</c:v>
                </c:pt>
                <c:pt idx="5">
                  <c:v>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4A6AA"/>
            </a:solidFill>
            <a:ln w="38100" cap="flat">
              <a:solidFill>
                <a:srgbClr val="14A6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A6AA"/>
              </a:solidFill>
              <a:ln w="9525" cap="flat">
                <a:solidFill>
                  <a:srgbClr val="14A6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0.6</c:v>
                  </c:pt>
                  <c:pt idx="5">
                    <c:v>0.7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85.6</c:v>
                </c:pt>
                <c:pt idx="1">
                  <c:v>75.4</c:v>
                </c:pt>
                <c:pt idx="2">
                  <c:v>66.8</c:v>
                </c:pt>
                <c:pt idx="3">
                  <c:v>56.7</c:v>
                </c:pt>
                <c:pt idx="4">
                  <c:v>39.8</c:v>
                </c:pt>
                <c:pt idx="5">
                  <c:v>17.4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79646"/>
            </a:solidFill>
            <a:ln w="38100" cap="flat">
              <a:solidFill>
                <a:srgbClr val="F796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79646"/>
              </a:solidFill>
              <a:ln w="9525" cap="flat">
                <a:solidFill>
                  <a:srgbClr val="F796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0.6</c:v>
                  </c:pt>
                  <c:pt idx="5">
                    <c:v>0.7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60.4</c:v>
                </c:pt>
                <c:pt idx="1">
                  <c:v>61.5</c:v>
                </c:pt>
                <c:pt idx="2">
                  <c:v>61.3</c:v>
                </c:pt>
                <c:pt idx="3">
                  <c:v>60.9</c:v>
                </c:pt>
                <c:pt idx="4">
                  <c:v>51</c:v>
                </c:pt>
                <c:pt idx="5">
                  <c:v>28.1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+mn-lt"/>
                  </a:rPr>
                  <a:t>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3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62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0"/>
          </a:xfrm>
          <a:prstGeom prst="rect">
            <a:avLst/>
          </a:prstGeom>
          <a:solidFill>
            <a:srgbClr val="1E3582"/>
          </a:solidFill>
          <a:ln w="12700">
            <a:solidFill>
              <a:srgbClr val="1E35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400800"/>
          </a:xfrm>
          <a:prstGeom prst="rect">
            <a:avLst/>
          </a:prstGeom>
          <a:solidFill>
            <a:srgbClr val="14A6AA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0" y="0"/>
            <a:ext cx="3200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731520"/>
            <a:ext cx="9262872" cy="50292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D3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105156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Calibo AI Academy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64592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Telco Customer Churn Prediction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60604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Classification Model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37560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03320"/>
            <a:ext cx="926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ASHIKA REDDY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270248" y="457200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F3F1"/>
          </a:solidFill>
          <a:ln w="12700">
            <a:solidFill>
              <a:srgbClr val="14A6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0248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CLASSIFICATION</a:t>
            </a:r>
            <a:endParaRPr lang="en-US" sz="1200" dirty="0"/>
          </a:p>
        </p:txBody>
      </p:sp>
      <p:sp>
        <p:nvSpPr>
          <p:cNvPr id="18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| Project overview and presentation title.</a:t>
            </a:r>
            <a:endParaRPr lang="en-US" sz="1100" dirty="0"/>
          </a:p>
        </p:txBody>
      </p:sp>
      <p:sp>
        <p:nvSpPr>
          <p:cNvPr id="20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Churn Prediction Matters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customers is costly, so the goal is to spot who is likely to leave before they do.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| Defines the objective, stakeholder and success measure.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14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company sells phone and internet services to thousands of customers on monthly or longer contracts.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20116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14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 (churn) without warning, and retention teams cannot contact everyone. They need to know who to prioritise.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THE BUSINESS QUESTION  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customer details and service usage predict whether a customer will churn?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dataset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15968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44568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74152" y="516636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02752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5669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churners reliably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records with demographics, services, billing and churn status.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| 7,043 customers described by 21 columns, with no missing values at load.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64992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81344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81344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1,869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997696" y="2103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 citizen, partner, dependents and tenure (months with the company).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15968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44568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multiple lines, internet type, online security, backup, device protection, tech support and streaming.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74152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02752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TARGET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4251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paperless billing, payment method, monthly and total charges. Target: Churn (Yes/No).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ETL &amp; DATA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Data for Modeling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cleaning steps turn the raw file into model-ready numbers.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| Cleaning, encoding and conversion applied before training.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was text, so it was converted to numeric.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7208" y="210312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0088" y="2286000"/>
            <a:ext cx="548640" cy="548640"/>
          </a:xfrm>
          <a:prstGeom prst="ellipse">
            <a:avLst/>
          </a:prstGeom>
          <a:solidFill>
            <a:srgbClr val="14A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blanks created by conversion were filled with 0.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65776" y="210312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48656" y="2286000"/>
            <a:ext cx="548640" cy="548640"/>
          </a:xfrm>
          <a:prstGeom prst="ellipse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removed because it has no predictive value.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24344" y="210312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07224" y="2286000"/>
            <a:ext cx="548640" cy="548640"/>
          </a:xfrm>
          <a:prstGeom prst="ellipse">
            <a:avLst/>
          </a:prstGeom>
          <a:solidFill>
            <a:srgbClr val="14A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0722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07224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mapped: No = 0, Yes = 1.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82912" y="210312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65792" y="2286000"/>
            <a:ext cx="548640" cy="548640"/>
          </a:xfrm>
          <a:prstGeom prst="ellipse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6579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65792" y="3429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converted to dummy variables (drop_first).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a fully numeric feature table (X) and a 0/1 churn label (y), ready for splitting and scaling.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Distribution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one in four customers left, so the classes are imbalanced.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| 5,174 customers stayed and 1,869 churned (26.5%).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2011680"/>
            <a:ext cx="4050792" cy="1188720"/>
          </a:xfrm>
          <a:prstGeom prst="roundRect">
            <a:avLst>
              <a:gd name="adj" fmla="val 923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011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73.5%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20116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5,174 customers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89520" y="3383280"/>
            <a:ext cx="4050792" cy="1188720"/>
          </a:xfrm>
          <a:prstGeom prst="roundRect">
            <a:avLst>
              <a:gd name="adj" fmla="val 923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3383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customers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4754880"/>
            <a:ext cx="4050792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818120" y="48920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525780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 mislead here, so recall and precision are tracked for churners.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MODEL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Logistic Regression Model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scale, train and predict with a simple, explainable classifier.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| 80/20 stratified split, standardised features, logistic regression.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train / 20% test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on churn, random_state = 42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64992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93592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StandardScaler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 only, then applied to test data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71032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9944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87384" y="30175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97696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26296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probability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cut-off of 0.5 for the first evaluation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LOGISTIC REGRESSION 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outputs a churn probability per customer, which lets the business choose how aggressive to be.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 at 0.5 Threshold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1,409 unseen customers.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| Accuracy 80.7%, precision 65.8%, recall 56.7%, F1 60.9%, ROC-AUC 0.842.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80.7%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07208" y="201168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807208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A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65.8%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churners who really churned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65776" y="201168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065776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56.7%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churners the model caught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24344" y="201168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24344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60.9%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and recall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82912" y="201168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582912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A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0.842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rank churners higher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overall accuracy and an AUC above 0.84 show the model separates churners from loyal customers well.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53912" y="457200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382512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2512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of 56.7% means about 43% of real churners are missed at the default cut-off.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is right and where it makes mistakes.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| 925 true negatives, 110 false positives, 162 false negatives, 212 true positives.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 rot="16200000">
            <a:off x="32004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468880"/>
            <a:ext cx="868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023360"/>
            <a:ext cx="868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2468880"/>
            <a:ext cx="2231136" cy="1499616"/>
          </a:xfrm>
          <a:prstGeom prst="rect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2468880"/>
            <a:ext cx="22311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925</a:t>
            </a:r>
            <a:endParaRPr lang="en-US" sz="3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True negatives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4206240" y="2468880"/>
            <a:ext cx="2231136" cy="1499616"/>
          </a:xfrm>
          <a:prstGeom prst="rect">
            <a:avLst/>
          </a:prstGeom>
          <a:solidFill>
            <a:srgbClr val="A9BD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2468880"/>
            <a:ext cx="22311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</a:t>
            </a:r>
            <a:endParaRPr lang="en-US" sz="3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B67"/>
                </a:solidFill>
              </a:rPr>
              <a:t>False positives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1920240" y="4023360"/>
            <a:ext cx="2231136" cy="1499616"/>
          </a:xfrm>
          <a:prstGeom prst="rect">
            <a:avLst/>
          </a:prstGeom>
          <a:solidFill>
            <a:srgbClr val="A9BD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20240" y="4023360"/>
            <a:ext cx="22311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3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B67"/>
                </a:solidFill>
              </a:rPr>
              <a:t>False negatives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4206240" y="4023360"/>
            <a:ext cx="2231136" cy="1499616"/>
          </a:xfrm>
          <a:prstGeom prst="rect">
            <a:avLst/>
          </a:prstGeom>
          <a:solidFill>
            <a:srgbClr val="14A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4023360"/>
            <a:ext cx="22311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True positives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6949440" y="201168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178040" y="214884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51460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1,137 of 1,409 customers (925 stayers + 212 churners) were classified correctly.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352044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178040" y="365760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02336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customers who churned were predicted to stay. These are the costliest errors.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9440" y="4983480"/>
            <a:ext cx="4690872" cy="1280160"/>
          </a:xfrm>
          <a:prstGeom prst="roundRect">
            <a:avLst>
              <a:gd name="adj" fmla="val 8571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178040" y="512064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548640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loyal customers were flagged as churn risks, wasting some retention effort.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 and Class Report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sits well above the random-guess line.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| 0.842 indicates strong ability to rank churners above non-churners.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669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pic>
        <p:nvPicPr>
          <p:cNvPr id="10" name="Image 0" descr="/home/claude/nb_33.png">    </p:cNvPr>
          <p:cNvPicPr>
            <a:picLocks noChangeAspect="1"/>
          </p:cNvPicPr>
          <p:nvPr/>
        </p:nvPicPr>
        <p:blipFill>
          <a:blip r:embed="rId1"/>
          <a:srcRect l="0" r="0" t="-4215" b="-4215"/>
          <a:stretch/>
        </p:blipFill>
        <p:spPr>
          <a:xfrm>
            <a:off x="777240" y="2057400"/>
            <a:ext cx="5212080" cy="40690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011680"/>
          <a:ext cx="51480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914400"/>
                <a:gridCol w="822960"/>
                <a:gridCol w="1124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92240" y="4114800"/>
            <a:ext cx="5148072" cy="21031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720840" y="425196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4617720"/>
            <a:ext cx="4690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stronger on loyal customers (recall 0.89) than on churners (recall 0.57). Because churn is the minority class, the churn rows are the ones to improve.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OPTIMISATION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the Decision Threshold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cut-off trades precision for much higher recall.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| At 0.3, recall rises from 56.7% to 75.4% while F1 stays near 0.61.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2011680"/>
            <a:ext cx="3867912" cy="192024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01168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75.4%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</a:rPr>
              <a:t>recall at threshold 0.3, up from 56.7% at 0.5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7772400" y="4114800"/>
            <a:ext cx="3867912" cy="2103120"/>
          </a:xfrm>
          <a:prstGeom prst="roundRect">
            <a:avLst>
              <a:gd name="adj" fmla="val 5217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01000" y="42519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617720"/>
            <a:ext cx="3410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falls to 51.9% at 0.3, so more loyal customers get contacted. Pick the threshold by retention cost.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BUSINESS INSIGHTS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Mean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model output into retention decisions.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| Use probabilities to target retention where it pays off.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by probability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8803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customers by predicted churn probability and contact the highest-risk group first.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3912" y="210312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377440"/>
            <a:ext cx="640080" cy="640080"/>
          </a:xfrm>
          <a:prstGeom prst="ellipse">
            <a:avLst/>
          </a:prstGeom>
          <a:solidFill>
            <a:srgbClr val="14A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lower threshold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296912" y="28803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0.3 the model catches about 282 of 374 churners, versus 212 at 0.5.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some false alarms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37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contacts to loyal customers usually cost less than losing a customer.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53912" y="416052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4434840"/>
            <a:ext cx="640080" cy="640080"/>
          </a:xfrm>
          <a:prstGeom prst="ellipse">
            <a:avLst/>
          </a:prstGeom>
          <a:solidFill>
            <a:srgbClr val="1E35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class imbalance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296912" y="49377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26.5% churners, recall and F1 are better guides than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•  FINAL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ASHIKA REDDY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Next Steps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baseline that is ready to guide retention outreach.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67"/>
          </a:solidFill>
          <a:ln w="12700">
            <a:solidFill>
              <a:srgbClr val="0B2B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| Logistic regression reaches 0.842 ROC-AUC and the model and scaler are saved for reuse.</a:t>
            </a:r>
            <a:endParaRPr lang="en-US" sz="1100" dirty="0"/>
          </a:p>
        </p:txBody>
      </p:sp>
      <p:sp>
        <p:nvSpPr>
          <p:cNvPr id="8" name="Page Number"/>
          <p:cNvSpPr txBox="1"/>
          <p:nvPr/>
        </p:nvSpPr>
        <p:spPr>
          <a:xfrm>
            <a:off x="11094415" y="6400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14815"/>
            </a:avLst>
          </a:prstGeom>
          <a:solidFill>
            <a:srgbClr val="E8F3F1"/>
          </a:solidFill>
          <a:ln w="15875">
            <a:solidFill>
              <a:srgbClr val="14A6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116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“Logistic regression predicts churn with 80.7% accuracy and 0.842 ROC-AUC; a 0.3 threshold lifts recall to 75.4%.”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7,043 records, encoded features, scaled data and trained and evaluated a logistic regression model.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15968" y="35204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ranking ability, but only 56.7% recall at 0.5. Threshold tuning improves churner capture.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4152" y="35204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6FAFA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02752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other models, handle class imbalance, and deploy the saved model and scaler for scoring.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ibo AI Academy">
  <a:themeElements>
    <a:clrScheme name="Calibo AI Academy">
      <a:dk1>
        <a:srgbClr val="162033"/>
      </a:dk1>
      <a:lt1>
        <a:srgbClr val="FFFFFF"/>
      </a:lt1>
      <a:dk2>
        <a:srgbClr val="0B2B67"/>
      </a:dk2>
      <a:lt2>
        <a:srgbClr val="E8F3F1"/>
      </a:lt2>
      <a:accent1>
        <a:srgbClr val="14A6AA"/>
      </a:accent1>
      <a:accent2>
        <a:srgbClr val="1E3582"/>
      </a:accent2>
      <a:accent3>
        <a:srgbClr val="0F766E"/>
      </a:accent3>
      <a:accent4>
        <a:srgbClr val="F79646"/>
      </a:accent4>
      <a:accent5>
        <a:srgbClr val="64748B"/>
      </a:accent5>
      <a:accent6>
        <a:srgbClr val="D3DEE5"/>
      </a:accent6>
      <a:hlink>
        <a:srgbClr val="1E3582"/>
      </a:hlink>
      <a:folHlink>
        <a:srgbClr val="64748B"/>
      </a:folHlink>
    </a:clrScheme>
    <a:fontScheme name="Calibo AI Academ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subject>PptxGenJS Presentation</dc:subject>
  <dc:creator>Ashika Reddy</dc:creator>
  <cp:lastModifiedBy>Ashika Reddy</cp:lastModifiedBy>
  <cp:revision>1</cp:revision>
  <dcterms:created xsi:type="dcterms:W3CDTF">2026-10-08T10:49:50Z</dcterms:created>
  <dcterms:modified xsi:type="dcterms:W3CDTF">2026-10-08T10:49:50Z</dcterms:modified>
</cp:coreProperties>
</file>